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18" Type="http://schemas.openxmlformats.org/officeDocument/2006/relationships/slide" Target="slides/slide15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IN" sz="8000" b="1" dirty="0">
                <a:effectLst/>
                <a:latin typeface="Bernard MT Condensed" panose="02050806060905020404" pitchFamily="18" charset="0"/>
                <a:cs typeface="Arial" panose="020B0604020202020204" pitchFamily="34" charset="0"/>
              </a:rPr>
              <a:t>L</a:t>
            </a:r>
            <a:r>
              <a:rPr lang="en-IN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emon Jelly Café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771694"/>
          </a:xfrm>
        </p:spPr>
        <p:txBody>
          <a:bodyPr>
            <a:normAutofit fontScale="70000" lnSpcReduction="20000"/>
          </a:bodyPr>
          <a:lstStyle/>
          <a:p>
            <a:br>
              <a:rPr lang="en-IN" dirty="0">
                <a:effectLst/>
              </a:rPr>
            </a:br>
            <a: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Cloud Application Management Project</a:t>
            </a:r>
            <a:b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Platform: Microsoft Azure</a:t>
            </a:r>
            <a:b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Team Members:</a:t>
            </a:r>
            <a:b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Rahul Sheroy Shinod(</a:t>
            </a:r>
            <a:r>
              <a:rPr lang="en-U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20065316</a:t>
            </a:r>
            <a: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Akanksha Srivastava(</a:t>
            </a:r>
            <a:r>
              <a:rPr lang="en-U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20078801</a:t>
            </a:r>
            <a: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Yash Purohit(</a:t>
            </a:r>
            <a:r>
              <a:rPr lang="en-U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20074160</a:t>
            </a:r>
            <a:r>
              <a:rPr lang="en-IN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6C710A-1C93-85B2-548F-F98BE259B414}"/>
              </a:ext>
            </a:extLst>
          </p:cNvPr>
          <p:cNvSpPr txBox="1"/>
          <p:nvPr/>
        </p:nvSpPr>
        <p:spPr>
          <a:xfrm>
            <a:off x="1147666" y="1604865"/>
            <a:ext cx="9946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Introduction to Cloud Computing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E2146-F5B1-715F-59A3-E4DAAE60A417}"/>
              </a:ext>
            </a:extLst>
          </p:cNvPr>
          <p:cNvSpPr txBox="1"/>
          <p:nvPr/>
        </p:nvSpPr>
        <p:spPr>
          <a:xfrm>
            <a:off x="1147667" y="2556588"/>
            <a:ext cx="4842586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On‑demand access to IT resources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Reduces need for physical infrastructure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Highly scalable and flexible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Accessible from anywhere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Ideal for SMEs in hospitality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BC7D2-9D8E-5144-DF39-8D24B8C9360A}"/>
              </a:ext>
            </a:extLst>
          </p:cNvPr>
          <p:cNvSpPr txBox="1"/>
          <p:nvPr/>
        </p:nvSpPr>
        <p:spPr>
          <a:xfrm>
            <a:off x="10486599" y="2323323"/>
            <a:ext cx="1713101" cy="2584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2" descr="Clouds icon - Free download on Iconfinder">
            <a:extLst>
              <a:ext uri="{FF2B5EF4-FFF2-40B4-BE49-F238E27FC236}">
                <a16:creationId xmlns:a16="http://schemas.microsoft.com/office/drawing/2014/main" id="{EAB477AF-A869-4503-3962-8D6E50850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420" y="1715864"/>
            <a:ext cx="4114801" cy="342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41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38D789-A8C4-E7F7-CF40-DB1F5A6969A5}"/>
              </a:ext>
            </a:extLst>
          </p:cNvPr>
          <p:cNvSpPr txBox="1"/>
          <p:nvPr/>
        </p:nvSpPr>
        <p:spPr>
          <a:xfrm>
            <a:off x="858417" y="727788"/>
            <a:ext cx="9638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CECD3-8587-7C37-3955-E5CD9E1DD291}"/>
              </a:ext>
            </a:extLst>
          </p:cNvPr>
          <p:cNvSpPr txBox="1"/>
          <p:nvPr/>
        </p:nvSpPr>
        <p:spPr>
          <a:xfrm>
            <a:off x="1455575" y="1838131"/>
            <a:ext cx="5589036" cy="2691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Located at Millennium Walkway, Dublin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130+ total seating (indoor + outdoor)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15–20 employees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4.6★ rating with 7000+ reviews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Popular among locals and tourists</a:t>
            </a:r>
          </a:p>
        </p:txBody>
      </p:sp>
      <p:pic>
        <p:nvPicPr>
          <p:cNvPr id="2050" name="Picture 2" descr="Lemon Jelly Cafe | Enjoy Fresh Irish Meals - Visit Today">
            <a:extLst>
              <a:ext uri="{FF2B5EF4-FFF2-40B4-BE49-F238E27FC236}">
                <a16:creationId xmlns:a16="http://schemas.microsoft.com/office/drawing/2014/main" id="{C4F2E26A-805F-736F-49E4-4B978E664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58821"/>
            <a:ext cx="5047862" cy="303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97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3CA965-3E4E-5AFF-4E58-09A6F52942EC}"/>
              </a:ext>
            </a:extLst>
          </p:cNvPr>
          <p:cNvSpPr txBox="1"/>
          <p:nvPr/>
        </p:nvSpPr>
        <p:spPr>
          <a:xfrm>
            <a:off x="1147665" y="597159"/>
            <a:ext cx="9545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Menu &amp; Operations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14C516-C0BF-CD39-01B5-C45E2DA1247E}"/>
              </a:ext>
            </a:extLst>
          </p:cNvPr>
          <p:cNvSpPr txBox="1"/>
          <p:nvPr/>
        </p:nvSpPr>
        <p:spPr>
          <a:xfrm>
            <a:off x="1357603" y="1782147"/>
            <a:ext cx="4562670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Breakfast, brunch, lunch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Fresh ingredients daily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Wide menu variety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Requires strong inventory control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Complex daily operations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7B1312-186C-00E0-CC59-7FF1BB83D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139" y="1782147"/>
            <a:ext cx="4040154" cy="253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25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463E34-23F1-CF93-C0D9-2C66558883F2}"/>
              </a:ext>
            </a:extLst>
          </p:cNvPr>
          <p:cNvSpPr txBox="1"/>
          <p:nvPr/>
        </p:nvSpPr>
        <p:spPr>
          <a:xfrm>
            <a:off x="1231641" y="529898"/>
            <a:ext cx="9367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Online Presence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65EDC-CBDE-DBDB-70F2-2F9C152C60A2}"/>
              </a:ext>
            </a:extLst>
          </p:cNvPr>
          <p:cNvSpPr txBox="1"/>
          <p:nvPr/>
        </p:nvSpPr>
        <p:spPr>
          <a:xfrm>
            <a:off x="643812" y="1679510"/>
            <a:ext cx="4544008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Main website + separate ordering site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Instagram, Facebook, TripAdvisor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7900+ followers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Systems not integrated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Limited customer data ownership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E7EE94-A3F0-0D66-8981-1CE78216F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988" y="1369025"/>
            <a:ext cx="2817845" cy="368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04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7A45C8-BA35-E5EB-7717-3645AC13838F}"/>
              </a:ext>
            </a:extLst>
          </p:cNvPr>
          <p:cNvSpPr txBox="1"/>
          <p:nvPr/>
        </p:nvSpPr>
        <p:spPr>
          <a:xfrm>
            <a:off x="2323322" y="429208"/>
            <a:ext cx="683933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Key Business Challenges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25219-D3B8-BB7C-B1F8-332EF54901FB}"/>
              </a:ext>
            </a:extLst>
          </p:cNvPr>
          <p:cNvSpPr txBox="1"/>
          <p:nvPr/>
        </p:nvSpPr>
        <p:spPr>
          <a:xfrm>
            <a:off x="1567543" y="1819470"/>
            <a:ext cx="4348065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Manual inventory management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Unstructured staff scheduling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Disconnected IT systems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Poor data visibility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Limited scalability</a:t>
            </a:r>
          </a:p>
          <a:p>
            <a:endParaRPr lang="en-IN" dirty="0"/>
          </a:p>
        </p:txBody>
      </p:sp>
      <p:pic>
        <p:nvPicPr>
          <p:cNvPr id="5122" name="Picture 2" descr="Warning Icons Download PNG Transparent Background, Free Download #2766 ...">
            <a:extLst>
              <a:ext uri="{FF2B5EF4-FFF2-40B4-BE49-F238E27FC236}">
                <a16:creationId xmlns:a16="http://schemas.microsoft.com/office/drawing/2014/main" id="{36AC4E8A-6C4A-D719-A9B7-C6387F330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811" y="1959428"/>
            <a:ext cx="2161592" cy="218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82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EECA7D-1F7D-DBC9-17C0-10A8F39C8912}"/>
              </a:ext>
            </a:extLst>
          </p:cNvPr>
          <p:cNvSpPr txBox="1"/>
          <p:nvPr/>
        </p:nvSpPr>
        <p:spPr>
          <a:xfrm>
            <a:off x="1698171" y="699796"/>
            <a:ext cx="8181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Current IT Infrastructure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C4CF4F-7D1A-E8AD-533C-F4081B79341C}"/>
              </a:ext>
            </a:extLst>
          </p:cNvPr>
          <p:cNvSpPr txBox="1"/>
          <p:nvPr/>
        </p:nvSpPr>
        <p:spPr>
          <a:xfrm>
            <a:off x="1306286" y="2099387"/>
            <a:ext cx="4320073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Standalone POS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Manual spreadsheets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No CRM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Shared hosting website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No formal backup strategy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668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BEEDF3-6129-E08F-D6EF-9585ACFBD1A1}"/>
              </a:ext>
            </a:extLst>
          </p:cNvPr>
          <p:cNvSpPr txBox="1"/>
          <p:nvPr/>
        </p:nvSpPr>
        <p:spPr>
          <a:xfrm>
            <a:off x="1446245" y="447869"/>
            <a:ext cx="8161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Cloud POS Solution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54C7C5-753D-6873-BB06-273131198405}"/>
              </a:ext>
            </a:extLst>
          </p:cNvPr>
          <p:cNvSpPr txBox="1"/>
          <p:nvPr/>
        </p:nvSpPr>
        <p:spPr>
          <a:xfrm>
            <a:off x="1446245" y="1660609"/>
            <a:ext cx="4674636" cy="2691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SaaS POS (Square)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Real‑time sales dashboards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Integrates with inventory &amp; accounting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Remote access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Better analytics</a:t>
            </a:r>
          </a:p>
        </p:txBody>
      </p:sp>
      <p:pic>
        <p:nvPicPr>
          <p:cNvPr id="6146" name="Picture 2" descr="Cloud Computing and Bar Chart Icon 32635478 Vector Art at Vecteezy">
            <a:extLst>
              <a:ext uri="{FF2B5EF4-FFF2-40B4-BE49-F238E27FC236}">
                <a16:creationId xmlns:a16="http://schemas.microsoft.com/office/drawing/2014/main" id="{042133CD-2FED-A292-3D94-3B86E73ED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869" y="1903445"/>
            <a:ext cx="3601616" cy="244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780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88A57A-9E5B-F0DE-B37F-0392CE5CF469}"/>
              </a:ext>
            </a:extLst>
          </p:cNvPr>
          <p:cNvSpPr txBox="1"/>
          <p:nvPr/>
        </p:nvSpPr>
        <p:spPr>
          <a:xfrm>
            <a:off x="1455576" y="466531"/>
            <a:ext cx="8602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Azure Website &amp; Ordering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C3A62-879D-C251-04D1-13F9FE7ACBA4}"/>
              </a:ext>
            </a:extLst>
          </p:cNvPr>
          <p:cNvSpPr txBox="1"/>
          <p:nvPr/>
        </p:nvSpPr>
        <p:spPr>
          <a:xfrm>
            <a:off x="1184988" y="1688841"/>
            <a:ext cx="4674636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Host website on Azure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Integrated ordering system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No third‑party commission fees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Full control of customer data</a:t>
            </a:r>
          </a:p>
          <a:p>
            <a:pPr marL="285750" lvl="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Scalable during peak hours</a:t>
            </a:r>
          </a:p>
          <a:p>
            <a:endParaRPr lang="en-IN" dirty="0"/>
          </a:p>
        </p:txBody>
      </p:sp>
      <p:pic>
        <p:nvPicPr>
          <p:cNvPr id="7170" name="Picture 2" descr="Cloud computing, cloud storage, global, internet, network, web ...">
            <a:extLst>
              <a:ext uri="{FF2B5EF4-FFF2-40B4-BE49-F238E27FC236}">
                <a16:creationId xmlns:a16="http://schemas.microsoft.com/office/drawing/2014/main" id="{C0F4823C-B41F-57A2-FD83-670B9DB8B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81291"/>
            <a:ext cx="4124132" cy="356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352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713D1A-39C4-02D0-109E-B7B2514D2813}"/>
              </a:ext>
            </a:extLst>
          </p:cNvPr>
          <p:cNvSpPr txBox="1"/>
          <p:nvPr/>
        </p:nvSpPr>
        <p:spPr>
          <a:xfrm>
            <a:off x="2673998" y="809044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Inventory Management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C3FA1-E9F8-9E89-5A41-457720AF9C1E}"/>
              </a:ext>
            </a:extLst>
          </p:cNvPr>
          <p:cNvSpPr txBox="1"/>
          <p:nvPr/>
        </p:nvSpPr>
        <p:spPr>
          <a:xfrm>
            <a:off x="1219978" y="1782642"/>
            <a:ext cx="4369059" cy="310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Cloud‑based inventory system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Real‑time stock tracking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Low‑stock alerts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Waste reduction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Better supplier ordering</a:t>
            </a:r>
          </a:p>
        </p:txBody>
      </p:sp>
    </p:spTree>
    <p:extLst>
      <p:ext uri="{BB962C8B-B14F-4D97-AF65-F5344CB8AC3E}">
        <p14:creationId xmlns:p14="http://schemas.microsoft.com/office/powerpoint/2010/main" val="3601886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B80897-8C19-D81F-D1ED-66B5F619940D}"/>
              </a:ext>
            </a:extLst>
          </p:cNvPr>
          <p:cNvSpPr txBox="1"/>
          <p:nvPr/>
        </p:nvSpPr>
        <p:spPr>
          <a:xfrm>
            <a:off x="1856792" y="656165"/>
            <a:ext cx="7774732" cy="416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 Storage &amp; CRM</a:t>
            </a:r>
            <a:endParaRPr lang="en-IN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1229F-A32F-44FF-143F-702A3FBF0866}"/>
              </a:ext>
            </a:extLst>
          </p:cNvPr>
          <p:cNvSpPr txBox="1"/>
          <p:nvPr/>
        </p:nvSpPr>
        <p:spPr>
          <a:xfrm>
            <a:off x="1191987" y="1754651"/>
            <a:ext cx="6097554" cy="310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Azure Blob Storage backups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Automated secure storage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CRM (HubSpot)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Customer behaviour insights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Targeted marketing</a:t>
            </a:r>
          </a:p>
        </p:txBody>
      </p:sp>
    </p:spTree>
    <p:extLst>
      <p:ext uri="{BB962C8B-B14F-4D97-AF65-F5344CB8AC3E}">
        <p14:creationId xmlns:p14="http://schemas.microsoft.com/office/powerpoint/2010/main" val="4173860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396CFC-5C12-43BE-5646-A722D6113070}"/>
              </a:ext>
            </a:extLst>
          </p:cNvPr>
          <p:cNvSpPr txBox="1"/>
          <p:nvPr/>
        </p:nvSpPr>
        <p:spPr>
          <a:xfrm>
            <a:off x="3853544" y="786793"/>
            <a:ext cx="8698462" cy="416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Network &amp; Deployment</a:t>
            </a:r>
            <a:endParaRPr lang="en-IN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A830E-74B3-4380-EE49-94D4E7AE9492}"/>
              </a:ext>
            </a:extLst>
          </p:cNvPr>
          <p:cNvSpPr txBox="1"/>
          <p:nvPr/>
        </p:nvSpPr>
        <p:spPr>
          <a:xfrm>
            <a:off x="1667459" y="1757722"/>
            <a:ext cx="4084476" cy="273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Cloud‑managed network (UniFi)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Azure VM hosts web app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Azure SQL Database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Blob Storage for backups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Fully integrated cloud system</a:t>
            </a:r>
          </a:p>
        </p:txBody>
      </p:sp>
      <p:pic>
        <p:nvPicPr>
          <p:cNvPr id="8196" name="Picture 4" descr="Cloud Deployment Vector Icon 26452634 Vector Art at Vecteezy">
            <a:extLst>
              <a:ext uri="{FF2B5EF4-FFF2-40B4-BE49-F238E27FC236}">
                <a16:creationId xmlns:a16="http://schemas.microsoft.com/office/drawing/2014/main" id="{3E9BF9C4-69DD-AA50-49DE-7F7B4295A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007" y="1753057"/>
            <a:ext cx="4084477" cy="318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944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F036D5-4C1A-BA12-DB11-18814C6A617F}"/>
              </a:ext>
            </a:extLst>
          </p:cNvPr>
          <p:cNvSpPr txBox="1"/>
          <p:nvPr/>
        </p:nvSpPr>
        <p:spPr>
          <a:xfrm>
            <a:off x="4000501" y="618843"/>
            <a:ext cx="6097554" cy="416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Azure Architecture Diagram</a:t>
            </a:r>
            <a:endParaRPr lang="en-IN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6268B-07FC-C68E-C6BB-6261CF5A01AD}"/>
              </a:ext>
            </a:extLst>
          </p:cNvPr>
          <p:cNvSpPr txBox="1"/>
          <p:nvPr/>
        </p:nvSpPr>
        <p:spPr>
          <a:xfrm>
            <a:off x="643812" y="2070583"/>
            <a:ext cx="7221894" cy="241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Flow:</a:t>
            </a: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b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User → Azure VM (Web App) → Azure SQL Database → Azure Blob Storage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VM handles website + ordering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SQL stores menu, orders, staff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Blob stores automated backups</a:t>
            </a:r>
          </a:p>
        </p:txBody>
      </p:sp>
      <p:pic>
        <p:nvPicPr>
          <p:cNvPr id="9218" name="Picture 2" descr="Azure Data Architecture Diagram">
            <a:extLst>
              <a:ext uri="{FF2B5EF4-FFF2-40B4-BE49-F238E27FC236}">
                <a16:creationId xmlns:a16="http://schemas.microsoft.com/office/drawing/2014/main" id="{652418D8-CBFC-BD58-1601-474140411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498" y="2308207"/>
            <a:ext cx="3413352" cy="277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644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FBCB7-BBED-FCB2-DDC7-6999B735C9DF}"/>
              </a:ext>
            </a:extLst>
          </p:cNvPr>
          <p:cNvSpPr txBox="1"/>
          <p:nvPr/>
        </p:nvSpPr>
        <p:spPr>
          <a:xfrm>
            <a:off x="4355064" y="566448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Conclusion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DDB56D-8C7A-D90F-23DB-9A3B4A21DF8A}"/>
              </a:ext>
            </a:extLst>
          </p:cNvPr>
          <p:cNvSpPr txBox="1"/>
          <p:nvPr/>
        </p:nvSpPr>
        <p:spPr>
          <a:xfrm>
            <a:off x="662474" y="1847956"/>
            <a:ext cx="7746740" cy="310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Cloud improves efficiency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Enhances data security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Enables scalability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Reduces long‑term costs</a:t>
            </a:r>
          </a:p>
          <a:p>
            <a:pPr marL="342900" lvl="0" indent="-342900">
              <a:lnSpc>
                <a:spcPct val="2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Phased implementation recommended</a:t>
            </a:r>
          </a:p>
        </p:txBody>
      </p:sp>
    </p:spTree>
    <p:extLst>
      <p:ext uri="{BB962C8B-B14F-4D97-AF65-F5344CB8AC3E}">
        <p14:creationId xmlns:p14="http://schemas.microsoft.com/office/powerpoint/2010/main" val="3188086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312F22-EF39-AA0F-C3DF-E168F23A60F1}"/>
              </a:ext>
            </a:extLst>
          </p:cNvPr>
          <p:cNvSpPr txBox="1"/>
          <p:nvPr/>
        </p:nvSpPr>
        <p:spPr>
          <a:xfrm>
            <a:off x="1147665" y="2481943"/>
            <a:ext cx="9395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093219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